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1F2B"/>
        </a:solidFill>
        <a:effectLst/>
      </p:bgPr>
    </p:bg>
    <p:spTree>
      <p:nvGrpSpPr>
        <p:cNvPr id="1" name=""/>
        <p:cNvGrpSpPr/>
        <p:nvPr/>
      </p:nvGrpSpPr>
      <p:grpSpPr/>
      <p:sp>
        <p:nvSpPr>
          <p:cNvPr id="2" name="TextBox 1"/>
          <p:cNvSpPr txBox="1"/>
          <p:nvPr/>
        </p:nvSpPr>
        <p:spPr>
          <a:xfrm>
            <a:off x="1371600" y="1645920"/>
            <a:ext cx="9418320" cy="1828800"/>
          </a:xfrm>
          <a:prstGeom prst="rect">
            <a:avLst/>
          </a:prstGeom>
          <a:noFill/>
        </p:spPr>
        <p:txBody>
          <a:bodyPr wrap="square">
            <a:spAutoFit/>
          </a:bodyPr>
          <a:lstStyle/>
          <a:p>
            <a:pPr algn="ctr">
              <a:spcAft>
                <a:spcPts val="200"/>
              </a:spcAft>
              <a:defRPr sz="3600" b="1" i="0">
                <a:solidFill>
                  <a:srgbClr val="C9A962"/>
                </a:solidFill>
                <a:latin typeface="Times New Roman"/>
              </a:defRPr>
            </a:pPr>
            <a:r>
              <a:t>Moral Corruption vs. Natural Necessity:</a:t>
            </a:r>
          </a:p>
          <a:p>
            <a:pPr algn="ctr">
              <a:spcBef>
                <a:spcPts val="0"/>
              </a:spcBef>
              <a:spcAft>
                <a:spcPts val="0"/>
              </a:spcAft>
              <a:defRPr sz="3600" b="1" i="0">
                <a:solidFill>
                  <a:srgbClr val="C9A962"/>
                </a:solidFill>
                <a:latin typeface="Times New Roman"/>
              </a:defRPr>
            </a:pPr>
            <a:r>
              <a:t>Two Models of World-Ending in Plato and Stoic Philosophy</a:t>
            </a:r>
          </a:p>
        </p:txBody>
      </p:sp>
      <p:sp>
        <p:nvSpPr>
          <p:cNvPr id="3" name="Rectangle 2"/>
          <p:cNvSpPr/>
          <p:nvPr/>
        </p:nvSpPr>
        <p:spPr>
          <a:xfrm>
            <a:off x="2743200" y="3566160"/>
            <a:ext cx="6675120" cy="25400"/>
          </a:xfrm>
          <a:prstGeom prst="rect">
            <a:avLst/>
          </a:prstGeom>
          <a:solidFill>
            <a:srgbClr val="C9A9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3840480"/>
            <a:ext cx="9418320" cy="548640"/>
          </a:xfrm>
          <a:prstGeom prst="rect">
            <a:avLst/>
          </a:prstGeom>
          <a:noFill/>
        </p:spPr>
        <p:txBody>
          <a:bodyPr wrap="square">
            <a:spAutoFit/>
          </a:bodyPr>
          <a:lstStyle/>
          <a:p>
            <a:pPr algn="ctr">
              <a:spcAft>
                <a:spcPts val="600"/>
              </a:spcAft>
              <a:defRPr sz="2200" b="0" i="0">
                <a:solidFill>
                  <a:srgbClr val="CCCCCC"/>
                </a:solidFill>
                <a:latin typeface="Times New Roman"/>
              </a:defRPr>
            </a:pPr>
            <a:r>
              <a:t>GESM: The End of the World</a:t>
            </a:r>
          </a:p>
        </p:txBody>
      </p:sp>
      <p:sp>
        <p:nvSpPr>
          <p:cNvPr id="5" name="TextBox 4"/>
          <p:cNvSpPr txBox="1"/>
          <p:nvPr/>
        </p:nvSpPr>
        <p:spPr>
          <a:xfrm>
            <a:off x="11247120" y="6400800"/>
            <a:ext cx="731520" cy="320040"/>
          </a:xfrm>
          <a:prstGeom prst="rect">
            <a:avLst/>
          </a:prstGeom>
          <a:noFill/>
        </p:spPr>
        <p:txBody>
          <a:bodyPr wrap="square">
            <a:spAutoFit/>
          </a:bodyPr>
          <a:lstStyle/>
          <a:p>
            <a:pPr algn="r">
              <a:spcAft>
                <a:spcPts val="600"/>
              </a:spcAft>
              <a:defRPr sz="1100" b="0" i="0">
                <a:solidFill>
                  <a:srgbClr val="999999"/>
                </a:solidFill>
                <a:latin typeface="Times New Roman"/>
              </a:defRPr>
            </a:pPr>
            <a: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1F2B"/>
        </a:solidFill>
        <a:effectLst/>
      </p:bgPr>
    </p:bg>
    <p:spTree>
      <p:nvGrpSpPr>
        <p:cNvPr id="1" name=""/>
        <p:cNvGrpSpPr/>
        <p:nvPr/>
      </p:nvGrpSpPr>
      <p:grpSpPr/>
      <p:sp>
        <p:nvSpPr>
          <p:cNvPr id="2" name="TextBox 1"/>
          <p:cNvSpPr txBox="1"/>
          <p:nvPr/>
        </p:nvSpPr>
        <p:spPr>
          <a:xfrm>
            <a:off x="731520" y="365760"/>
            <a:ext cx="10698480" cy="640080"/>
          </a:xfrm>
          <a:prstGeom prst="rect">
            <a:avLst/>
          </a:prstGeom>
          <a:noFill/>
        </p:spPr>
        <p:txBody>
          <a:bodyPr wrap="square">
            <a:spAutoFit/>
          </a:bodyPr>
          <a:lstStyle/>
          <a:p>
            <a:pPr algn="l">
              <a:spcAft>
                <a:spcPts val="600"/>
              </a:spcAft>
              <a:defRPr sz="3200" b="1" i="0">
                <a:solidFill>
                  <a:srgbClr val="C9A962"/>
                </a:solidFill>
                <a:latin typeface="Times New Roman"/>
              </a:defRPr>
            </a:pPr>
            <a:r>
              <a:t>The Central Problem</a:t>
            </a:r>
          </a:p>
        </p:txBody>
      </p:sp>
      <p:sp>
        <p:nvSpPr>
          <p:cNvPr id="3" name="Rectangle 2"/>
          <p:cNvSpPr/>
          <p:nvPr/>
        </p:nvSpPr>
        <p:spPr>
          <a:xfrm>
            <a:off x="731520" y="960120"/>
            <a:ext cx="10698480" cy="12700"/>
          </a:xfrm>
          <a:prstGeom prst="rect">
            <a:avLst/>
          </a:prstGeom>
          <a:solidFill>
            <a:srgbClr val="C9A9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280160"/>
            <a:ext cx="10332720" cy="4114800"/>
          </a:xfrm>
          <a:prstGeom prst="rect">
            <a:avLst/>
          </a:prstGeom>
          <a:noFill/>
        </p:spPr>
        <p:txBody>
          <a:bodyPr wrap="square">
            <a:spAutoFit/>
          </a:bodyPr>
          <a:lstStyle/>
          <a:p>
            <a:pPr algn="l">
              <a:spcAft>
                <a:spcPts val="0"/>
              </a:spcAft>
              <a:defRPr sz="1000" b="0" i="0">
                <a:solidFill>
                  <a:srgbClr val="FFFFFF"/>
                </a:solidFill>
                <a:latin typeface="Times New Roman"/>
              </a:defRPr>
            </a:pPr>
          </a:p>
          <a:p>
            <a:pPr>
              <a:spcAft>
                <a:spcPts val="2000"/>
              </a:spcAft>
              <a:defRPr sz="2000" b="0" i="0">
                <a:solidFill>
                  <a:srgbClr val="FFFFFF"/>
                </a:solidFill>
                <a:latin typeface="Times New Roman"/>
              </a:defRPr>
              <a:buChar char="•"/>
              <a:buClr>
                <a:srgbClr val="C9A962"/>
              </a:buClr>
            </a:pPr>
            <a:r>
              <a:t>In Plato’s Critias, Zeus personally intervenes to destroy Atlantis after observing its moral decline — destruction is a divine response to human corruption</a:t>
            </a:r>
          </a:p>
          <a:p>
            <a:pPr>
              <a:spcAft>
                <a:spcPts val="2000"/>
              </a:spcAft>
              <a:defRPr sz="2000" b="0" i="0">
                <a:solidFill>
                  <a:srgbClr val="FFFFFF"/>
                </a:solidFill>
                <a:latin typeface="Times New Roman"/>
              </a:defRPr>
              <a:buChar char="•"/>
              <a:buClr>
                <a:srgbClr val="C9A962"/>
              </a:buClr>
            </a:pPr>
            <a:r>
              <a:t>In Stoic cosmology, the world burns on a predetermined cosmic schedule, indifferent to human virtue or vice</a:t>
            </a:r>
          </a:p>
        </p:txBody>
      </p:sp>
      <p:sp>
        <p:nvSpPr>
          <p:cNvPr id="5" name="TextBox 4"/>
          <p:cNvSpPr txBox="1"/>
          <p:nvPr/>
        </p:nvSpPr>
        <p:spPr>
          <a:xfrm>
            <a:off x="914400" y="5029200"/>
            <a:ext cx="10332720" cy="731520"/>
          </a:xfrm>
          <a:prstGeom prst="rect">
            <a:avLst/>
          </a:prstGeom>
          <a:noFill/>
        </p:spPr>
        <p:txBody>
          <a:bodyPr wrap="square">
            <a:spAutoFit/>
          </a:bodyPr>
          <a:lstStyle/>
          <a:p>
            <a:pPr algn="ctr">
              <a:spcAft>
                <a:spcPts val="600"/>
              </a:spcAft>
              <a:defRPr sz="2200" b="0" i="1">
                <a:solidFill>
                  <a:srgbClr val="C9A962"/>
                </a:solidFill>
                <a:latin typeface="Times New Roman"/>
              </a:defRPr>
            </a:pPr>
            <a:r>
              <a:t>‘Why do worlds end — because of what we do, or in spite of it?’</a:t>
            </a:r>
          </a:p>
        </p:txBody>
      </p:sp>
      <p:sp>
        <p:nvSpPr>
          <p:cNvPr id="6" name="TextBox 5"/>
          <p:cNvSpPr txBox="1"/>
          <p:nvPr/>
        </p:nvSpPr>
        <p:spPr>
          <a:xfrm>
            <a:off x="11247120" y="6400800"/>
            <a:ext cx="731520" cy="320040"/>
          </a:xfrm>
          <a:prstGeom prst="rect">
            <a:avLst/>
          </a:prstGeom>
          <a:noFill/>
        </p:spPr>
        <p:txBody>
          <a:bodyPr wrap="square">
            <a:spAutoFit/>
          </a:bodyPr>
          <a:lstStyle/>
          <a:p>
            <a:pPr algn="r">
              <a:spcAft>
                <a:spcPts val="600"/>
              </a:spcAft>
              <a:defRPr sz="1100" b="0" i="0">
                <a:solidFill>
                  <a:srgbClr val="999999"/>
                </a:solidFill>
                <a:latin typeface="Times New Roman"/>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B1F2B"/>
        </a:solidFill>
        <a:effectLst/>
      </p:bgPr>
    </p:bg>
    <p:spTree>
      <p:nvGrpSpPr>
        <p:cNvPr id="1" name=""/>
        <p:cNvGrpSpPr/>
        <p:nvPr/>
      </p:nvGrpSpPr>
      <p:grpSpPr/>
      <p:sp>
        <p:nvSpPr>
          <p:cNvPr id="2" name="TextBox 1"/>
          <p:cNvSpPr txBox="1"/>
          <p:nvPr/>
        </p:nvSpPr>
        <p:spPr>
          <a:xfrm>
            <a:off x="731520" y="365760"/>
            <a:ext cx="10698480" cy="640080"/>
          </a:xfrm>
          <a:prstGeom prst="rect">
            <a:avLst/>
          </a:prstGeom>
          <a:noFill/>
        </p:spPr>
        <p:txBody>
          <a:bodyPr wrap="square">
            <a:spAutoFit/>
          </a:bodyPr>
          <a:lstStyle/>
          <a:p>
            <a:pPr algn="l">
              <a:spcAft>
                <a:spcPts val="600"/>
              </a:spcAft>
              <a:defRPr sz="3200" b="1" i="0">
                <a:solidFill>
                  <a:srgbClr val="C9A962"/>
                </a:solidFill>
                <a:latin typeface="Times New Roman"/>
              </a:defRPr>
            </a:pPr>
            <a:r>
              <a:t>Thesis</a:t>
            </a:r>
          </a:p>
        </p:txBody>
      </p:sp>
      <p:sp>
        <p:nvSpPr>
          <p:cNvPr id="3" name="Rectangle 2"/>
          <p:cNvSpPr/>
          <p:nvPr/>
        </p:nvSpPr>
        <p:spPr>
          <a:xfrm>
            <a:off x="731520" y="960120"/>
            <a:ext cx="10698480" cy="12700"/>
          </a:xfrm>
          <a:prstGeom prst="rect">
            <a:avLst/>
          </a:prstGeom>
          <a:solidFill>
            <a:srgbClr val="C9A9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7280" y="1645920"/>
            <a:ext cx="9966960" cy="12700"/>
          </a:xfrm>
          <a:prstGeom prst="rect">
            <a:avLst/>
          </a:prstGeom>
          <a:solidFill>
            <a:srgbClr val="C9A9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920240"/>
            <a:ext cx="9966960" cy="3657600"/>
          </a:xfrm>
          <a:prstGeom prst="rect">
            <a:avLst/>
          </a:prstGeom>
          <a:noFill/>
        </p:spPr>
        <p:txBody>
          <a:bodyPr wrap="square" anchor="ctr">
            <a:spAutoFit/>
          </a:bodyPr>
          <a:lstStyle/>
          <a:p>
            <a:pPr algn="ctr">
              <a:spcAft>
                <a:spcPts val="0"/>
              </a:spcAft>
              <a:defRPr sz="2200" b="0" i="0">
                <a:solidFill>
                  <a:srgbClr val="FFFFFF"/>
                </a:solidFill>
                <a:latin typeface="Times New Roman"/>
              </a:defRPr>
            </a:pPr>
            <a:r>
              <a:t>Plato’s Critias frames the destruction of Atlantis as a direct consequence of moral corruption — the gradual dilution of divine nature in its rulers — whereas the Stoics present cosmic destruction as a morally neutral, mathematically inevitable conflagration built into the rational structure of the universe itself. This contrast reveals two fundamentally incompatible ancient answers to the question of why worlds end: one rooted in ethics, the other in physics.</a:t>
            </a:r>
          </a:p>
        </p:txBody>
      </p:sp>
      <p:sp>
        <p:nvSpPr>
          <p:cNvPr id="6" name="Rectangle 5"/>
          <p:cNvSpPr/>
          <p:nvPr/>
        </p:nvSpPr>
        <p:spPr>
          <a:xfrm>
            <a:off x="1097280" y="5120640"/>
            <a:ext cx="9966960" cy="12700"/>
          </a:xfrm>
          <a:prstGeom prst="rect">
            <a:avLst/>
          </a:prstGeom>
          <a:solidFill>
            <a:srgbClr val="C9A9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247120" y="6400800"/>
            <a:ext cx="731520" cy="320040"/>
          </a:xfrm>
          <a:prstGeom prst="rect">
            <a:avLst/>
          </a:prstGeom>
          <a:noFill/>
        </p:spPr>
        <p:txBody>
          <a:bodyPr wrap="square">
            <a:spAutoFit/>
          </a:bodyPr>
          <a:lstStyle/>
          <a:p>
            <a:pPr algn="r">
              <a:spcAft>
                <a:spcPts val="600"/>
              </a:spcAft>
              <a:defRPr sz="1100" b="0" i="0">
                <a:solidFill>
                  <a:srgbClr val="999999"/>
                </a:solidFill>
                <a:latin typeface="Times New Roman"/>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B1F2B"/>
        </a:solidFill>
        <a:effectLst/>
      </p:bgPr>
    </p:bg>
    <p:spTree>
      <p:nvGrpSpPr>
        <p:cNvPr id="1" name=""/>
        <p:cNvGrpSpPr/>
        <p:nvPr/>
      </p:nvGrpSpPr>
      <p:grpSpPr/>
      <p:sp>
        <p:nvSpPr>
          <p:cNvPr id="2" name="TextBox 1"/>
          <p:cNvSpPr txBox="1"/>
          <p:nvPr/>
        </p:nvSpPr>
        <p:spPr>
          <a:xfrm>
            <a:off x="731520" y="365760"/>
            <a:ext cx="10698480" cy="640080"/>
          </a:xfrm>
          <a:prstGeom prst="rect">
            <a:avLst/>
          </a:prstGeom>
          <a:noFill/>
        </p:spPr>
        <p:txBody>
          <a:bodyPr wrap="square">
            <a:spAutoFit/>
          </a:bodyPr>
          <a:lstStyle/>
          <a:p>
            <a:pPr algn="l">
              <a:spcAft>
                <a:spcPts val="600"/>
              </a:spcAft>
              <a:defRPr sz="3200" b="1" i="0">
                <a:solidFill>
                  <a:srgbClr val="C9A962"/>
                </a:solidFill>
                <a:latin typeface="Times New Roman"/>
              </a:defRPr>
            </a:pPr>
            <a:r>
              <a:t>Plato’s Moral Model of Destruction</a:t>
            </a:r>
          </a:p>
        </p:txBody>
      </p:sp>
      <p:sp>
        <p:nvSpPr>
          <p:cNvPr id="3" name="Rectangle 2"/>
          <p:cNvSpPr/>
          <p:nvPr/>
        </p:nvSpPr>
        <p:spPr>
          <a:xfrm>
            <a:off x="731520" y="960120"/>
            <a:ext cx="10698480" cy="12700"/>
          </a:xfrm>
          <a:prstGeom prst="rect">
            <a:avLst/>
          </a:prstGeom>
          <a:solidFill>
            <a:srgbClr val="C9A9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280160"/>
            <a:ext cx="5029200" cy="4389120"/>
          </a:xfrm>
          <a:prstGeom prst="rect">
            <a:avLst/>
          </a:prstGeom>
          <a:solidFill>
            <a:srgbClr val="141720"/>
          </a:solidFill>
          <a:ln w="19050">
            <a:solidFill>
              <a:srgbClr val="8A764A"/>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l">
              <a:spcAft>
                <a:spcPts val="800"/>
              </a:spcAft>
              <a:defRPr sz="1600" b="1" i="0">
                <a:solidFill>
                  <a:srgbClr val="C9A962"/>
                </a:solidFill>
                <a:latin typeface="Times New Roman"/>
              </a:defRPr>
            </a:pPr>
            <a:r>
              <a:t>The Passage (Critias 121b–c)</a:t>
            </a:r>
          </a:p>
          <a:p>
            <a:pPr algn="l">
              <a:spcBef>
                <a:spcPts val="0"/>
              </a:spcBef>
              <a:spcAft>
                <a:spcPts val="400"/>
              </a:spcAft>
              <a:defRPr sz="1500" b="0" i="1">
                <a:solidFill>
                  <a:srgbClr val="CCCCCC"/>
                </a:solidFill>
                <a:latin typeface="Times New Roman"/>
              </a:defRPr>
            </a:pPr>
            <a:r>
              <a:t>‘When the divine portion began to grow faint as it was often blended with great quantities of mortality...they became disordered...inwardly they were filled with an unjust lust for possessions and power. But Zeus...could clearly see this state of affairs...and resolved to punish them.’</a:t>
            </a:r>
          </a:p>
        </p:txBody>
      </p:sp>
      <p:sp>
        <p:nvSpPr>
          <p:cNvPr id="5" name="TextBox 4"/>
          <p:cNvSpPr txBox="1"/>
          <p:nvPr/>
        </p:nvSpPr>
        <p:spPr>
          <a:xfrm>
            <a:off x="6217920" y="1280160"/>
            <a:ext cx="5212080" cy="4389120"/>
          </a:xfrm>
          <a:prstGeom prst="rect">
            <a:avLst/>
          </a:prstGeom>
          <a:noFill/>
        </p:spPr>
        <p:txBody>
          <a:bodyPr wrap="square">
            <a:spAutoFit/>
          </a:bodyPr>
          <a:lstStyle/>
          <a:p>
            <a:pPr algn="l">
              <a:spcAft>
                <a:spcPts val="1200"/>
              </a:spcAft>
              <a:defRPr sz="1600" b="1" i="0">
                <a:solidFill>
                  <a:srgbClr val="C9A962"/>
                </a:solidFill>
                <a:latin typeface="Times New Roman"/>
              </a:defRPr>
            </a:pPr>
            <a:r>
              <a:t>What This Illustrates</a:t>
            </a:r>
          </a:p>
          <a:p>
            <a:pPr>
              <a:spcAft>
                <a:spcPts val="1600"/>
              </a:spcAft>
              <a:defRPr sz="1800" b="0" i="0">
                <a:solidFill>
                  <a:srgbClr val="FFFFFF"/>
                </a:solidFill>
                <a:latin typeface="Times New Roman"/>
              </a:defRPr>
              <a:buChar char="•"/>
              <a:buClr>
                <a:srgbClr val="C9A962"/>
              </a:buClr>
            </a:pPr>
            <a:r>
              <a:t>Destruction is reactive — it responds to moral failure</a:t>
            </a:r>
          </a:p>
          <a:p>
            <a:pPr>
              <a:spcAft>
                <a:spcPts val="1600"/>
              </a:spcAft>
              <a:defRPr sz="1800" b="0" i="0">
                <a:solidFill>
                  <a:srgbClr val="FFFFFF"/>
                </a:solidFill>
                <a:latin typeface="Times New Roman"/>
              </a:defRPr>
              <a:buChar char="•"/>
              <a:buClr>
                <a:srgbClr val="C9A962"/>
              </a:buClr>
            </a:pPr>
            <a:r>
              <a:t>The mechanism (earthquake/flood) is natural but the decision is divine</a:t>
            </a:r>
          </a:p>
          <a:p>
            <a:pPr>
              <a:spcAft>
                <a:spcPts val="1600"/>
              </a:spcAft>
              <a:defRPr sz="1800" b="0" i="0">
                <a:solidFill>
                  <a:srgbClr val="FFFFFF"/>
                </a:solidFill>
                <a:latin typeface="Times New Roman"/>
              </a:defRPr>
              <a:buChar char="•"/>
              <a:buClr>
                <a:srgbClr val="C9A962"/>
              </a:buClr>
            </a:pPr>
            <a:r>
              <a:t>Human moral choice has direct cosmic consequences</a:t>
            </a:r>
          </a:p>
        </p:txBody>
      </p:sp>
      <p:sp>
        <p:nvSpPr>
          <p:cNvPr id="6" name="TextBox 5"/>
          <p:cNvSpPr txBox="1"/>
          <p:nvPr/>
        </p:nvSpPr>
        <p:spPr>
          <a:xfrm>
            <a:off x="11247120" y="6400800"/>
            <a:ext cx="731520" cy="320040"/>
          </a:xfrm>
          <a:prstGeom prst="rect">
            <a:avLst/>
          </a:prstGeom>
          <a:noFill/>
        </p:spPr>
        <p:txBody>
          <a:bodyPr wrap="square">
            <a:spAutoFit/>
          </a:bodyPr>
          <a:lstStyle/>
          <a:p>
            <a:pPr algn="r">
              <a:spcAft>
                <a:spcPts val="600"/>
              </a:spcAft>
              <a:defRPr sz="1100" b="0" i="0">
                <a:solidFill>
                  <a:srgbClr val="999999"/>
                </a:solidFill>
                <a:latin typeface="Times New Roman"/>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B1F2B"/>
        </a:solidFill>
        <a:effectLst/>
      </p:bgPr>
    </p:bg>
    <p:spTree>
      <p:nvGrpSpPr>
        <p:cNvPr id="1" name=""/>
        <p:cNvGrpSpPr/>
        <p:nvPr/>
      </p:nvGrpSpPr>
      <p:grpSpPr/>
      <p:sp>
        <p:nvSpPr>
          <p:cNvPr id="2" name="TextBox 1"/>
          <p:cNvSpPr txBox="1"/>
          <p:nvPr/>
        </p:nvSpPr>
        <p:spPr>
          <a:xfrm>
            <a:off x="731520" y="365760"/>
            <a:ext cx="10698480" cy="640080"/>
          </a:xfrm>
          <a:prstGeom prst="rect">
            <a:avLst/>
          </a:prstGeom>
          <a:noFill/>
        </p:spPr>
        <p:txBody>
          <a:bodyPr wrap="square">
            <a:spAutoFit/>
          </a:bodyPr>
          <a:lstStyle/>
          <a:p>
            <a:pPr algn="l">
              <a:spcAft>
                <a:spcPts val="600"/>
              </a:spcAft>
              <a:defRPr sz="3200" b="1" i="0">
                <a:solidFill>
                  <a:srgbClr val="C9A962"/>
                </a:solidFill>
                <a:latin typeface="Times New Roman"/>
              </a:defRPr>
            </a:pPr>
            <a:r>
              <a:t>The Ethics of Atlantis’ End</a:t>
            </a:r>
          </a:p>
        </p:txBody>
      </p:sp>
      <p:sp>
        <p:nvSpPr>
          <p:cNvPr id="3" name="Rectangle 2"/>
          <p:cNvSpPr/>
          <p:nvPr/>
        </p:nvSpPr>
        <p:spPr>
          <a:xfrm>
            <a:off x="731520" y="960120"/>
            <a:ext cx="10698480" cy="12700"/>
          </a:xfrm>
          <a:prstGeom prst="rect">
            <a:avLst/>
          </a:prstGeom>
          <a:solidFill>
            <a:srgbClr val="C9A9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280160"/>
            <a:ext cx="10332720" cy="4114800"/>
          </a:xfrm>
          <a:prstGeom prst="rect">
            <a:avLst/>
          </a:prstGeom>
          <a:noFill/>
        </p:spPr>
        <p:txBody>
          <a:bodyPr wrap="square">
            <a:spAutoFit/>
          </a:bodyPr>
          <a:lstStyle/>
          <a:p>
            <a:pPr algn="l">
              <a:spcAft>
                <a:spcPts val="0"/>
              </a:spcAft>
              <a:defRPr sz="1000" b="0" i="0">
                <a:solidFill>
                  <a:srgbClr val="FFFFFF"/>
                </a:solidFill>
                <a:latin typeface="Times New Roman"/>
              </a:defRPr>
            </a:pPr>
          </a:p>
          <a:p>
            <a:pPr>
              <a:spcAft>
                <a:spcPts val="1600"/>
              </a:spcAft>
              <a:defRPr sz="2000" b="0" i="0">
                <a:solidFill>
                  <a:srgbClr val="FFFFFF"/>
                </a:solidFill>
                <a:latin typeface="Times New Roman"/>
              </a:defRPr>
              <a:buChar char="•"/>
              <a:buClr>
                <a:srgbClr val="C9A962"/>
              </a:buClr>
            </a:pPr>
            <a:r>
              <a:t>Atlantis begins virtuous, noble, and self-sufficient — destruction is not inevitable but contingent on behavior</a:t>
            </a:r>
          </a:p>
          <a:p>
            <a:pPr>
              <a:spcAft>
                <a:spcPts val="1600"/>
              </a:spcAft>
              <a:defRPr sz="2000" b="0" i="0">
                <a:solidFill>
                  <a:srgbClr val="FFFFFF"/>
                </a:solidFill>
                <a:latin typeface="Times New Roman"/>
              </a:defRPr>
              <a:buChar char="•"/>
              <a:buClr>
                <a:srgbClr val="C9A962"/>
              </a:buClr>
            </a:pPr>
            <a:r>
              <a:t>The dilution of divine nature by mortality is a gradual moral process, not a physical one</a:t>
            </a:r>
          </a:p>
          <a:p>
            <a:pPr>
              <a:spcAft>
                <a:spcPts val="1600"/>
              </a:spcAft>
              <a:defRPr sz="2000" b="0" i="0">
                <a:solidFill>
                  <a:srgbClr val="FFFFFF"/>
                </a:solidFill>
                <a:latin typeface="Times New Roman"/>
              </a:defRPr>
              <a:buChar char="•"/>
              <a:buClr>
                <a:srgbClr val="C9A962"/>
              </a:buClr>
            </a:pPr>
            <a:r>
              <a:t>This places Critias in a tradition where the world’s end functions as judgment — a cosmic verdict on human civilization</a:t>
            </a:r>
          </a:p>
        </p:txBody>
      </p:sp>
      <p:sp>
        <p:nvSpPr>
          <p:cNvPr id="5" name="TextBox 4"/>
          <p:cNvSpPr txBox="1"/>
          <p:nvPr/>
        </p:nvSpPr>
        <p:spPr>
          <a:xfrm>
            <a:off x="914400" y="5029200"/>
            <a:ext cx="10332720" cy="640080"/>
          </a:xfrm>
          <a:prstGeom prst="rect">
            <a:avLst/>
          </a:prstGeom>
          <a:noFill/>
        </p:spPr>
        <p:txBody>
          <a:bodyPr wrap="square">
            <a:spAutoFit/>
          </a:bodyPr>
          <a:lstStyle/>
          <a:p>
            <a:pPr algn="ctr">
              <a:spcAft>
                <a:spcPts val="600"/>
              </a:spcAft>
              <a:defRPr sz="1800" b="0" i="1">
                <a:solidFill>
                  <a:srgbClr val="C9A962"/>
                </a:solidFill>
                <a:latin typeface="Times New Roman"/>
              </a:defRPr>
            </a:pPr>
            <a:r>
              <a:t>‘Destruction here is meaningful — it says something about who we are’</a:t>
            </a:r>
          </a:p>
        </p:txBody>
      </p:sp>
      <p:sp>
        <p:nvSpPr>
          <p:cNvPr id="6" name="TextBox 5"/>
          <p:cNvSpPr txBox="1"/>
          <p:nvPr/>
        </p:nvSpPr>
        <p:spPr>
          <a:xfrm>
            <a:off x="11247120" y="6400800"/>
            <a:ext cx="731520" cy="320040"/>
          </a:xfrm>
          <a:prstGeom prst="rect">
            <a:avLst/>
          </a:prstGeom>
          <a:noFill/>
        </p:spPr>
        <p:txBody>
          <a:bodyPr wrap="square">
            <a:spAutoFit/>
          </a:bodyPr>
          <a:lstStyle/>
          <a:p>
            <a:pPr algn="r">
              <a:spcAft>
                <a:spcPts val="600"/>
              </a:spcAft>
              <a:defRPr sz="1100" b="0" i="0">
                <a:solidFill>
                  <a:srgbClr val="999999"/>
                </a:solidFill>
                <a:latin typeface="Times New Roman"/>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B1F2B"/>
        </a:solidFill>
        <a:effectLst/>
      </p:bgPr>
    </p:bg>
    <p:spTree>
      <p:nvGrpSpPr>
        <p:cNvPr id="1" name=""/>
        <p:cNvGrpSpPr/>
        <p:nvPr/>
      </p:nvGrpSpPr>
      <p:grpSpPr/>
      <p:sp>
        <p:nvSpPr>
          <p:cNvPr id="2" name="TextBox 1"/>
          <p:cNvSpPr txBox="1"/>
          <p:nvPr/>
        </p:nvSpPr>
        <p:spPr>
          <a:xfrm>
            <a:off x="731520" y="365760"/>
            <a:ext cx="10698480" cy="640080"/>
          </a:xfrm>
          <a:prstGeom prst="rect">
            <a:avLst/>
          </a:prstGeom>
          <a:noFill/>
        </p:spPr>
        <p:txBody>
          <a:bodyPr wrap="square">
            <a:spAutoFit/>
          </a:bodyPr>
          <a:lstStyle/>
          <a:p>
            <a:pPr algn="l">
              <a:spcAft>
                <a:spcPts val="600"/>
              </a:spcAft>
              <a:defRPr sz="3200" b="1" i="0">
                <a:solidFill>
                  <a:srgbClr val="C9A962"/>
                </a:solidFill>
                <a:latin typeface="Times New Roman"/>
              </a:defRPr>
            </a:pPr>
            <a:r>
              <a:t>The Stoic Physical Model of Destruction</a:t>
            </a:r>
          </a:p>
        </p:txBody>
      </p:sp>
      <p:sp>
        <p:nvSpPr>
          <p:cNvPr id="3" name="Rectangle 2"/>
          <p:cNvSpPr/>
          <p:nvPr/>
        </p:nvSpPr>
        <p:spPr>
          <a:xfrm>
            <a:off x="731520" y="960120"/>
            <a:ext cx="10698480" cy="12700"/>
          </a:xfrm>
          <a:prstGeom prst="rect">
            <a:avLst/>
          </a:prstGeom>
          <a:solidFill>
            <a:srgbClr val="C9A9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280160"/>
            <a:ext cx="5029200" cy="4389120"/>
          </a:xfrm>
          <a:prstGeom prst="rect">
            <a:avLst/>
          </a:prstGeom>
          <a:solidFill>
            <a:srgbClr val="141720"/>
          </a:solidFill>
          <a:ln w="19050">
            <a:solidFill>
              <a:srgbClr val="8A764A"/>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l">
              <a:spcAft>
                <a:spcPts val="800"/>
              </a:spcAft>
              <a:defRPr sz="1600" b="1" i="0">
                <a:solidFill>
                  <a:srgbClr val="C9A962"/>
                </a:solidFill>
                <a:latin typeface="Times New Roman"/>
              </a:defRPr>
            </a:pPr>
            <a:r>
              <a:t>The Passage (Long &amp; Sedley 46G)</a:t>
            </a:r>
          </a:p>
          <a:p>
            <a:pPr algn="l">
              <a:spcBef>
                <a:spcPts val="0"/>
              </a:spcBef>
              <a:spcAft>
                <a:spcPts val="400"/>
              </a:spcAft>
              <a:defRPr sz="1500" b="0" i="1">
                <a:solidFill>
                  <a:srgbClr val="CCCCCC"/>
                </a:solidFill>
                <a:latin typeface="Times New Roman"/>
              </a:defRPr>
            </a:pPr>
            <a:r>
              <a:t>‘At certain fated times the entire world is subject to conflagration, and then is reconstituted afresh. The primary fire possesses the principles of all things and the causes of past, present, and future events. The nexus and succession of these is fate, knowledge, truth, and an inevitable and inescapable law.’</a:t>
            </a:r>
          </a:p>
        </p:txBody>
      </p:sp>
      <p:sp>
        <p:nvSpPr>
          <p:cNvPr id="5" name="TextBox 4"/>
          <p:cNvSpPr txBox="1"/>
          <p:nvPr/>
        </p:nvSpPr>
        <p:spPr>
          <a:xfrm>
            <a:off x="6217920" y="1280160"/>
            <a:ext cx="5212080" cy="4389120"/>
          </a:xfrm>
          <a:prstGeom prst="rect">
            <a:avLst/>
          </a:prstGeom>
          <a:noFill/>
        </p:spPr>
        <p:txBody>
          <a:bodyPr wrap="square">
            <a:spAutoFit/>
          </a:bodyPr>
          <a:lstStyle/>
          <a:p>
            <a:pPr algn="l">
              <a:spcAft>
                <a:spcPts val="1200"/>
              </a:spcAft>
              <a:defRPr sz="1600" b="1" i="0">
                <a:solidFill>
                  <a:srgbClr val="C9A962"/>
                </a:solidFill>
                <a:latin typeface="Times New Roman"/>
              </a:defRPr>
            </a:pPr>
            <a:r>
              <a:t>What This Illustrates</a:t>
            </a:r>
          </a:p>
          <a:p>
            <a:pPr>
              <a:spcAft>
                <a:spcPts val="1600"/>
              </a:spcAft>
              <a:defRPr sz="1800" b="0" i="0">
                <a:solidFill>
                  <a:srgbClr val="FFFFFF"/>
                </a:solidFill>
                <a:latin typeface="Times New Roman"/>
              </a:defRPr>
              <a:buChar char="•"/>
              <a:buClr>
                <a:srgbClr val="C9A962"/>
              </a:buClr>
            </a:pPr>
            <a:r>
              <a:t>Destruction is proactive — scheduled from the beginning of the cosmos</a:t>
            </a:r>
          </a:p>
          <a:p>
            <a:pPr>
              <a:spcAft>
                <a:spcPts val="1600"/>
              </a:spcAft>
              <a:defRPr sz="1800" b="0" i="0">
                <a:solidFill>
                  <a:srgbClr val="FFFFFF"/>
                </a:solidFill>
                <a:latin typeface="Times New Roman"/>
              </a:defRPr>
              <a:buChar char="•"/>
              <a:buClr>
                <a:srgbClr val="C9A962"/>
              </a:buClr>
            </a:pPr>
            <a:r>
              <a:t>The word ‘fated’ removes all moral causation</a:t>
            </a:r>
          </a:p>
          <a:p>
            <a:pPr>
              <a:spcAft>
                <a:spcPts val="1600"/>
              </a:spcAft>
              <a:defRPr sz="1800" b="0" i="0">
                <a:solidFill>
                  <a:srgbClr val="FFFFFF"/>
                </a:solidFill>
                <a:latin typeface="Times New Roman"/>
              </a:defRPr>
              <a:buChar char="•"/>
              <a:buClr>
                <a:srgbClr val="C9A962"/>
              </a:buClr>
            </a:pPr>
            <a:r>
              <a:t>Paradoxically, conflagration is the moment of maximum cosmic goodness and wisdom (46N)</a:t>
            </a:r>
          </a:p>
        </p:txBody>
      </p:sp>
      <p:sp>
        <p:nvSpPr>
          <p:cNvPr id="6" name="TextBox 5"/>
          <p:cNvSpPr txBox="1"/>
          <p:nvPr/>
        </p:nvSpPr>
        <p:spPr>
          <a:xfrm>
            <a:off x="11247120" y="6400800"/>
            <a:ext cx="731520" cy="320040"/>
          </a:xfrm>
          <a:prstGeom prst="rect">
            <a:avLst/>
          </a:prstGeom>
          <a:noFill/>
        </p:spPr>
        <p:txBody>
          <a:bodyPr wrap="square">
            <a:spAutoFit/>
          </a:bodyPr>
          <a:lstStyle/>
          <a:p>
            <a:pPr algn="r">
              <a:spcAft>
                <a:spcPts val="600"/>
              </a:spcAft>
              <a:defRPr sz="1100" b="0" i="0">
                <a:solidFill>
                  <a:srgbClr val="999999"/>
                </a:solidFill>
                <a:latin typeface="Times New Roman"/>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B1F2B"/>
        </a:solidFill>
        <a:effectLst/>
      </p:bgPr>
    </p:bg>
    <p:spTree>
      <p:nvGrpSpPr>
        <p:cNvPr id="1" name=""/>
        <p:cNvGrpSpPr/>
        <p:nvPr/>
      </p:nvGrpSpPr>
      <p:grpSpPr/>
      <p:sp>
        <p:nvSpPr>
          <p:cNvPr id="2" name="TextBox 1"/>
          <p:cNvSpPr txBox="1"/>
          <p:nvPr/>
        </p:nvSpPr>
        <p:spPr>
          <a:xfrm>
            <a:off x="731520" y="365760"/>
            <a:ext cx="10698480" cy="640080"/>
          </a:xfrm>
          <a:prstGeom prst="rect">
            <a:avLst/>
          </a:prstGeom>
          <a:noFill/>
        </p:spPr>
        <p:txBody>
          <a:bodyPr wrap="square">
            <a:spAutoFit/>
          </a:bodyPr>
          <a:lstStyle/>
          <a:p>
            <a:pPr algn="l">
              <a:spcAft>
                <a:spcPts val="600"/>
              </a:spcAft>
              <a:defRPr sz="3200" b="1" i="0">
                <a:solidFill>
                  <a:srgbClr val="C9A962"/>
                </a:solidFill>
                <a:latin typeface="Times New Roman"/>
              </a:defRPr>
            </a:pPr>
            <a:r>
              <a:t>Destruction Without Judgment</a:t>
            </a:r>
          </a:p>
        </p:txBody>
      </p:sp>
      <p:sp>
        <p:nvSpPr>
          <p:cNvPr id="3" name="Rectangle 2"/>
          <p:cNvSpPr/>
          <p:nvPr/>
        </p:nvSpPr>
        <p:spPr>
          <a:xfrm>
            <a:off x="731520" y="960120"/>
            <a:ext cx="10698480" cy="12700"/>
          </a:xfrm>
          <a:prstGeom prst="rect">
            <a:avLst/>
          </a:prstGeom>
          <a:solidFill>
            <a:srgbClr val="C9A9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280160"/>
            <a:ext cx="10332720" cy="4114800"/>
          </a:xfrm>
          <a:prstGeom prst="rect">
            <a:avLst/>
          </a:prstGeom>
          <a:noFill/>
        </p:spPr>
        <p:txBody>
          <a:bodyPr wrap="square">
            <a:spAutoFit/>
          </a:bodyPr>
          <a:lstStyle/>
          <a:p>
            <a:pPr algn="l">
              <a:spcAft>
                <a:spcPts val="0"/>
              </a:spcAft>
              <a:defRPr sz="1000" b="0" i="0">
                <a:solidFill>
                  <a:srgbClr val="FFFFFF"/>
                </a:solidFill>
                <a:latin typeface="Times New Roman"/>
              </a:defRPr>
            </a:pPr>
          </a:p>
          <a:p>
            <a:pPr>
              <a:spcAft>
                <a:spcPts val="1600"/>
              </a:spcAft>
              <a:defRPr sz="2000" b="0" i="0">
                <a:solidFill>
                  <a:srgbClr val="FFFFFF"/>
                </a:solidFill>
                <a:latin typeface="Times New Roman"/>
              </a:defRPr>
              <a:buChar char="•"/>
              <a:buClr>
                <a:srgbClr val="C9A962"/>
              </a:buClr>
            </a:pPr>
            <a:r>
              <a:t>Human virtue or vice is entirely irrelevant to when the conflagration occurs</a:t>
            </a:r>
          </a:p>
          <a:p>
            <a:pPr>
              <a:spcAft>
                <a:spcPts val="1600"/>
              </a:spcAft>
              <a:defRPr sz="2000" b="0" i="0">
                <a:solidFill>
                  <a:srgbClr val="FFFFFF"/>
                </a:solidFill>
                <a:latin typeface="Times New Roman"/>
              </a:defRPr>
              <a:buChar char="•"/>
              <a:buClr>
                <a:srgbClr val="C9A962"/>
              </a:buClr>
            </a:pPr>
            <a:r>
              <a:t>After each conflagration, everything recurs identically — Socrates, Plato, every city (52C) — not a reset toward something better but an exact repetition</a:t>
            </a:r>
          </a:p>
          <a:p>
            <a:pPr>
              <a:spcAft>
                <a:spcPts val="1600"/>
              </a:spcAft>
              <a:defRPr sz="2000" b="0" i="0">
                <a:solidFill>
                  <a:srgbClr val="FFFFFF"/>
                </a:solidFill>
                <a:latin typeface="Times New Roman"/>
              </a:defRPr>
              <a:buChar char="•"/>
              <a:buClr>
                <a:srgbClr val="C9A962"/>
              </a:buClr>
            </a:pPr>
            <a:r>
              <a:t>This is incompatible with the idea of destruction as punishment or moral consequence</a:t>
            </a:r>
          </a:p>
        </p:txBody>
      </p:sp>
      <p:sp>
        <p:nvSpPr>
          <p:cNvPr id="5" name="TextBox 4"/>
          <p:cNvSpPr txBox="1"/>
          <p:nvPr/>
        </p:nvSpPr>
        <p:spPr>
          <a:xfrm>
            <a:off x="914400" y="5029200"/>
            <a:ext cx="10332720" cy="640080"/>
          </a:xfrm>
          <a:prstGeom prst="rect">
            <a:avLst/>
          </a:prstGeom>
          <a:noFill/>
        </p:spPr>
        <p:txBody>
          <a:bodyPr wrap="square">
            <a:spAutoFit/>
          </a:bodyPr>
          <a:lstStyle/>
          <a:p>
            <a:pPr algn="ctr">
              <a:spcAft>
                <a:spcPts val="600"/>
              </a:spcAft>
              <a:defRPr sz="1800" b="0" i="1">
                <a:solidFill>
                  <a:srgbClr val="C9A962"/>
                </a:solidFill>
                <a:latin typeface="Times New Roman"/>
              </a:defRPr>
            </a:pPr>
            <a:r>
              <a:t>‘Destruction here is meaningless as judgment — it says nothing about who we are’</a:t>
            </a:r>
          </a:p>
        </p:txBody>
      </p:sp>
      <p:sp>
        <p:nvSpPr>
          <p:cNvPr id="6" name="TextBox 5"/>
          <p:cNvSpPr txBox="1"/>
          <p:nvPr/>
        </p:nvSpPr>
        <p:spPr>
          <a:xfrm>
            <a:off x="11247120" y="6400800"/>
            <a:ext cx="731520" cy="320040"/>
          </a:xfrm>
          <a:prstGeom prst="rect">
            <a:avLst/>
          </a:prstGeom>
          <a:noFill/>
        </p:spPr>
        <p:txBody>
          <a:bodyPr wrap="square">
            <a:spAutoFit/>
          </a:bodyPr>
          <a:lstStyle/>
          <a:p>
            <a:pPr algn="r">
              <a:spcAft>
                <a:spcPts val="600"/>
              </a:spcAft>
              <a:defRPr sz="1100" b="0" i="0">
                <a:solidFill>
                  <a:srgbClr val="999999"/>
                </a:solidFill>
                <a:latin typeface="Times New Roman"/>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B1F2B"/>
        </a:solidFill>
        <a:effectLst/>
      </p:bgPr>
    </p:bg>
    <p:spTree>
      <p:nvGrpSpPr>
        <p:cNvPr id="1" name=""/>
        <p:cNvGrpSpPr/>
        <p:nvPr/>
      </p:nvGrpSpPr>
      <p:grpSpPr/>
      <p:sp>
        <p:nvSpPr>
          <p:cNvPr id="2" name="TextBox 1"/>
          <p:cNvSpPr txBox="1"/>
          <p:nvPr/>
        </p:nvSpPr>
        <p:spPr>
          <a:xfrm>
            <a:off x="731520" y="365760"/>
            <a:ext cx="10698480" cy="640080"/>
          </a:xfrm>
          <a:prstGeom prst="rect">
            <a:avLst/>
          </a:prstGeom>
          <a:noFill/>
        </p:spPr>
        <p:txBody>
          <a:bodyPr wrap="square">
            <a:spAutoFit/>
          </a:bodyPr>
          <a:lstStyle/>
          <a:p>
            <a:pPr algn="l">
              <a:spcAft>
                <a:spcPts val="600"/>
              </a:spcAft>
              <a:defRPr sz="3200" b="1" i="0">
                <a:solidFill>
                  <a:srgbClr val="C9A962"/>
                </a:solidFill>
                <a:latin typeface="Times New Roman"/>
              </a:defRPr>
            </a:pPr>
            <a:r>
              <a:t>Secondary Source</a:t>
            </a:r>
          </a:p>
        </p:txBody>
      </p:sp>
      <p:sp>
        <p:nvSpPr>
          <p:cNvPr id="3" name="Rectangle 2"/>
          <p:cNvSpPr/>
          <p:nvPr/>
        </p:nvSpPr>
        <p:spPr>
          <a:xfrm>
            <a:off x="731520" y="960120"/>
            <a:ext cx="10698480" cy="12700"/>
          </a:xfrm>
          <a:prstGeom prst="rect">
            <a:avLst/>
          </a:prstGeom>
          <a:solidFill>
            <a:srgbClr val="C9A9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371600"/>
            <a:ext cx="10332720" cy="914400"/>
          </a:xfrm>
          <a:prstGeom prst="rect">
            <a:avLst/>
          </a:prstGeom>
          <a:noFill/>
        </p:spPr>
        <p:txBody>
          <a:bodyPr wrap="square">
            <a:spAutoFit/>
          </a:bodyPr>
          <a:lstStyle/>
          <a:p>
            <a:pPr algn="l">
              <a:spcAft>
                <a:spcPts val="200"/>
              </a:spcAft>
              <a:defRPr sz="1800" b="0" i="1">
                <a:solidFill>
                  <a:srgbClr val="CCCCCC"/>
                </a:solidFill>
                <a:latin typeface="Times New Roman"/>
              </a:defRPr>
            </a:pPr>
            <a:r>
              <a:t>Gábor Betegh, ‘Cosmological Ethics in the Timaeus and Early Stoicism’,</a:t>
            </a:r>
          </a:p>
          <a:p>
            <a:pPr algn="l">
              <a:spcBef>
                <a:spcPts val="0"/>
              </a:spcBef>
              <a:spcAft>
                <a:spcPts val="400"/>
              </a:spcAft>
              <a:defRPr sz="1800" b="0" i="1">
                <a:solidFill>
                  <a:srgbClr val="CCCCCC"/>
                </a:solidFill>
                <a:latin typeface="Times New Roman"/>
              </a:defRPr>
            </a:pPr>
            <a:r>
              <a:t>Oxford Studies in Ancient Philosophy, 2003</a:t>
            </a:r>
          </a:p>
        </p:txBody>
      </p:sp>
      <p:sp>
        <p:nvSpPr>
          <p:cNvPr id="5" name="TextBox 4"/>
          <p:cNvSpPr txBox="1"/>
          <p:nvPr/>
        </p:nvSpPr>
        <p:spPr>
          <a:xfrm>
            <a:off x="914400" y="2560320"/>
            <a:ext cx="10332720" cy="3200400"/>
          </a:xfrm>
          <a:prstGeom prst="rect">
            <a:avLst/>
          </a:prstGeom>
          <a:noFill/>
        </p:spPr>
        <p:txBody>
          <a:bodyPr wrap="square">
            <a:spAutoFit/>
          </a:bodyPr>
          <a:lstStyle/>
          <a:p>
            <a:pPr algn="l">
              <a:spcAft>
                <a:spcPts val="0"/>
              </a:spcAft>
              <a:defRPr sz="1000" b="0" i="0">
                <a:solidFill>
                  <a:srgbClr val="FFFFFF"/>
                </a:solidFill>
                <a:latin typeface="Times New Roman"/>
              </a:defRPr>
            </a:pPr>
          </a:p>
          <a:p>
            <a:pPr>
              <a:spcAft>
                <a:spcPts val="1600"/>
              </a:spcAft>
              <a:defRPr sz="2000" b="0" i="0">
                <a:solidFill>
                  <a:srgbClr val="FFFFFF"/>
                </a:solidFill>
                <a:latin typeface="Times New Roman"/>
              </a:defRPr>
              <a:buChar char="•"/>
              <a:buClr>
                <a:srgbClr val="C9A962"/>
              </a:buClr>
            </a:pPr>
            <a:r>
              <a:t>Betegh argues that Plato’s Timaeus establishes a cosmological framework in which the structure of the universe is itself ethical</a:t>
            </a:r>
          </a:p>
          <a:p>
            <a:pPr>
              <a:spcAft>
                <a:spcPts val="1600"/>
              </a:spcAft>
              <a:defRPr sz="2000" b="0" i="0">
                <a:solidFill>
                  <a:srgbClr val="FFFFFF"/>
                </a:solidFill>
                <a:latin typeface="Times New Roman"/>
              </a:defRPr>
              <a:buChar char="•"/>
              <a:buClr>
                <a:srgbClr val="C9A962"/>
              </a:buClr>
            </a:pPr>
            <a:r>
              <a:t>The Stoics inherit this framework but radically transform it — ethics and physics are unified differently</a:t>
            </a:r>
          </a:p>
          <a:p>
            <a:pPr>
              <a:spcAft>
                <a:spcPts val="1600"/>
              </a:spcAft>
              <a:defRPr sz="2000" b="0" i="0">
                <a:solidFill>
                  <a:srgbClr val="FFFFFF"/>
                </a:solidFill>
                <a:latin typeface="Times New Roman"/>
              </a:defRPr>
              <a:buChar char="•"/>
              <a:buClr>
                <a:srgbClr val="C9A962"/>
              </a:buClr>
            </a:pPr>
            <a:r>
              <a:t>This supports the paper’s argument that the two models represent genuinely incompatible views on whether human moral behavior has cosmic weight</a:t>
            </a:r>
          </a:p>
        </p:txBody>
      </p:sp>
      <p:sp>
        <p:nvSpPr>
          <p:cNvPr id="6" name="TextBox 5"/>
          <p:cNvSpPr txBox="1"/>
          <p:nvPr/>
        </p:nvSpPr>
        <p:spPr>
          <a:xfrm>
            <a:off x="11247120" y="6400800"/>
            <a:ext cx="731520" cy="320040"/>
          </a:xfrm>
          <a:prstGeom prst="rect">
            <a:avLst/>
          </a:prstGeom>
          <a:noFill/>
        </p:spPr>
        <p:txBody>
          <a:bodyPr wrap="square">
            <a:spAutoFit/>
          </a:bodyPr>
          <a:lstStyle/>
          <a:p>
            <a:pPr algn="r">
              <a:spcAft>
                <a:spcPts val="600"/>
              </a:spcAft>
              <a:defRPr sz="1100" b="0" i="0">
                <a:solidFill>
                  <a:srgbClr val="999999"/>
                </a:solidFill>
                <a:latin typeface="Times New Roman"/>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B1F2B"/>
        </a:solidFill>
        <a:effectLst/>
      </p:bgPr>
    </p:bg>
    <p:spTree>
      <p:nvGrpSpPr>
        <p:cNvPr id="1" name=""/>
        <p:cNvGrpSpPr/>
        <p:nvPr/>
      </p:nvGrpSpPr>
      <p:grpSpPr/>
      <p:sp>
        <p:nvSpPr>
          <p:cNvPr id="2" name="TextBox 1"/>
          <p:cNvSpPr txBox="1"/>
          <p:nvPr/>
        </p:nvSpPr>
        <p:spPr>
          <a:xfrm>
            <a:off x="731520" y="365760"/>
            <a:ext cx="10698480" cy="640080"/>
          </a:xfrm>
          <a:prstGeom prst="rect">
            <a:avLst/>
          </a:prstGeom>
          <a:noFill/>
        </p:spPr>
        <p:txBody>
          <a:bodyPr wrap="square">
            <a:spAutoFit/>
          </a:bodyPr>
          <a:lstStyle/>
          <a:p>
            <a:pPr algn="l">
              <a:spcAft>
                <a:spcPts val="600"/>
              </a:spcAft>
              <a:defRPr sz="3200" b="1" i="0">
                <a:solidFill>
                  <a:srgbClr val="C9A962"/>
                </a:solidFill>
                <a:latin typeface="Times New Roman"/>
              </a:defRPr>
            </a:pPr>
            <a:r>
              <a:t>What Is Really at Stake?</a:t>
            </a:r>
          </a:p>
        </p:txBody>
      </p:sp>
      <p:sp>
        <p:nvSpPr>
          <p:cNvPr id="3" name="Rectangle 2"/>
          <p:cNvSpPr/>
          <p:nvPr/>
        </p:nvSpPr>
        <p:spPr>
          <a:xfrm>
            <a:off x="731520" y="960120"/>
            <a:ext cx="10698480" cy="12700"/>
          </a:xfrm>
          <a:prstGeom prst="rect">
            <a:avLst/>
          </a:prstGeom>
          <a:solidFill>
            <a:srgbClr val="C9A9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280160"/>
            <a:ext cx="5029200" cy="4114800"/>
          </a:xfrm>
          <a:prstGeom prst="rect">
            <a:avLst/>
          </a:prstGeom>
          <a:solidFill>
            <a:srgbClr val="1F2330"/>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spcAft>
                <a:spcPts val="1400"/>
              </a:spcAft>
              <a:defRPr sz="2000" b="1" i="0">
                <a:solidFill>
                  <a:srgbClr val="C9A962"/>
                </a:solidFill>
                <a:latin typeface="Times New Roman"/>
              </a:defRPr>
            </a:pPr>
            <a:r>
              <a:t>Plato’s Model</a:t>
            </a:r>
          </a:p>
          <a:p>
            <a:pPr>
              <a:spcAft>
                <a:spcPts val="1200"/>
              </a:spcAft>
              <a:defRPr sz="1800" b="0" i="0">
                <a:solidFill>
                  <a:srgbClr val="FFFFFF"/>
                </a:solidFill>
                <a:latin typeface="Times New Roman"/>
              </a:defRPr>
              <a:buChar char="•"/>
              <a:buClr>
                <a:srgbClr val="C9A962"/>
              </a:buClr>
            </a:pPr>
            <a:r>
              <a:t>Human choices have cosmic consequences</a:t>
            </a:r>
          </a:p>
          <a:p>
            <a:pPr>
              <a:spcAft>
                <a:spcPts val="1200"/>
              </a:spcAft>
              <a:defRPr sz="1800" b="0" i="0">
                <a:solidFill>
                  <a:srgbClr val="FFFFFF"/>
                </a:solidFill>
                <a:latin typeface="Times New Roman"/>
              </a:defRPr>
              <a:buChar char="•"/>
              <a:buClr>
                <a:srgbClr val="C9A962"/>
              </a:buClr>
            </a:pPr>
            <a:r>
              <a:t>The end of the world is a moral verdict</a:t>
            </a:r>
          </a:p>
          <a:p>
            <a:pPr>
              <a:spcAft>
                <a:spcPts val="1200"/>
              </a:spcAft>
              <a:defRPr sz="1800" b="0" i="0">
                <a:solidFill>
                  <a:srgbClr val="FFFFFF"/>
                </a:solidFill>
                <a:latin typeface="Times New Roman"/>
              </a:defRPr>
              <a:buChar char="•"/>
              <a:buClr>
                <a:srgbClr val="C9A962"/>
              </a:buClr>
            </a:pPr>
            <a:r>
              <a:t>Ethics matters at a universal scale</a:t>
            </a:r>
          </a:p>
          <a:p>
            <a:pPr>
              <a:spcAft>
                <a:spcPts val="1200"/>
              </a:spcAft>
              <a:defRPr sz="1800" b="0" i="0">
                <a:solidFill>
                  <a:srgbClr val="FFFFFF"/>
                </a:solidFill>
                <a:latin typeface="Times New Roman"/>
              </a:defRPr>
              <a:buChar char="•"/>
              <a:buClr>
                <a:srgbClr val="C9A962"/>
              </a:buClr>
            </a:pPr>
            <a:r>
              <a:t>Destruction is contingent — it could have been avoided</a:t>
            </a:r>
          </a:p>
        </p:txBody>
      </p:sp>
      <p:sp>
        <p:nvSpPr>
          <p:cNvPr id="5" name="Rectangle 4"/>
          <p:cNvSpPr/>
          <p:nvPr/>
        </p:nvSpPr>
        <p:spPr>
          <a:xfrm>
            <a:off x="6217920" y="1280160"/>
            <a:ext cx="5212080" cy="4114800"/>
          </a:xfrm>
          <a:prstGeom prst="rect">
            <a:avLst/>
          </a:prstGeom>
          <a:solidFill>
            <a:srgbClr val="1F2330"/>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spcAft>
                <a:spcPts val="1400"/>
              </a:spcAft>
              <a:defRPr sz="2000" b="1" i="0">
                <a:solidFill>
                  <a:srgbClr val="C9A962"/>
                </a:solidFill>
                <a:latin typeface="Times New Roman"/>
              </a:defRPr>
            </a:pPr>
            <a:r>
              <a:t>Stoic Model</a:t>
            </a:r>
          </a:p>
          <a:p>
            <a:pPr>
              <a:spcAft>
                <a:spcPts val="1200"/>
              </a:spcAft>
              <a:defRPr sz="1800" b="0" i="0">
                <a:solidFill>
                  <a:srgbClr val="FFFFFF"/>
                </a:solidFill>
                <a:latin typeface="Times New Roman"/>
              </a:defRPr>
              <a:buChar char="•"/>
              <a:buClr>
                <a:srgbClr val="C9A962"/>
              </a:buClr>
            </a:pPr>
            <a:r>
              <a:t>Human choices are cosmically irrelevant to destruction</a:t>
            </a:r>
          </a:p>
          <a:p>
            <a:pPr>
              <a:spcAft>
                <a:spcPts val="1200"/>
              </a:spcAft>
              <a:defRPr sz="1800" b="0" i="0">
                <a:solidFill>
                  <a:srgbClr val="FFFFFF"/>
                </a:solidFill>
                <a:latin typeface="Times New Roman"/>
              </a:defRPr>
              <a:buChar char="•"/>
              <a:buClr>
                <a:srgbClr val="C9A962"/>
              </a:buClr>
            </a:pPr>
            <a:r>
              <a:t>The end of the world is a physical event</a:t>
            </a:r>
          </a:p>
          <a:p>
            <a:pPr>
              <a:spcAft>
                <a:spcPts val="1200"/>
              </a:spcAft>
              <a:defRPr sz="1800" b="0" i="0">
                <a:solidFill>
                  <a:srgbClr val="FFFFFF"/>
                </a:solidFill>
                <a:latin typeface="Times New Roman"/>
              </a:defRPr>
              <a:buChar char="•"/>
              <a:buClr>
                <a:srgbClr val="C9A962"/>
              </a:buClr>
            </a:pPr>
            <a:r>
              <a:t>Ethics matters only for the individual soul</a:t>
            </a:r>
          </a:p>
          <a:p>
            <a:pPr>
              <a:spcAft>
                <a:spcPts val="1200"/>
              </a:spcAft>
              <a:defRPr sz="1800" b="0" i="0">
                <a:solidFill>
                  <a:srgbClr val="FFFFFF"/>
                </a:solidFill>
                <a:latin typeface="Times New Roman"/>
              </a:defRPr>
              <a:buChar char="•"/>
              <a:buClr>
                <a:srgbClr val="C9A962"/>
              </a:buClr>
            </a:pPr>
            <a:r>
              <a:t>Destruction is necessary — nothing could prevent it</a:t>
            </a:r>
          </a:p>
        </p:txBody>
      </p:sp>
      <p:sp>
        <p:nvSpPr>
          <p:cNvPr id="6" name="TextBox 5"/>
          <p:cNvSpPr txBox="1"/>
          <p:nvPr/>
        </p:nvSpPr>
        <p:spPr>
          <a:xfrm>
            <a:off x="914400" y="5669280"/>
            <a:ext cx="10332720" cy="640080"/>
          </a:xfrm>
          <a:prstGeom prst="rect">
            <a:avLst/>
          </a:prstGeom>
          <a:noFill/>
        </p:spPr>
        <p:txBody>
          <a:bodyPr wrap="square">
            <a:spAutoFit/>
          </a:bodyPr>
          <a:lstStyle/>
          <a:p>
            <a:pPr algn="ctr">
              <a:spcAft>
                <a:spcPts val="600"/>
              </a:spcAft>
              <a:defRPr sz="2200" b="1" i="0">
                <a:solidFill>
                  <a:srgbClr val="C9A962"/>
                </a:solidFill>
                <a:latin typeface="Times New Roman"/>
              </a:defRPr>
            </a:pPr>
            <a:r>
              <a:t>‘Can the end of the world mean something, or does it just happen?’</a:t>
            </a:r>
          </a:p>
        </p:txBody>
      </p:sp>
      <p:sp>
        <p:nvSpPr>
          <p:cNvPr id="7" name="TextBox 6"/>
          <p:cNvSpPr txBox="1"/>
          <p:nvPr/>
        </p:nvSpPr>
        <p:spPr>
          <a:xfrm>
            <a:off x="11247120" y="6400800"/>
            <a:ext cx="731520" cy="320040"/>
          </a:xfrm>
          <a:prstGeom prst="rect">
            <a:avLst/>
          </a:prstGeom>
          <a:noFill/>
        </p:spPr>
        <p:txBody>
          <a:bodyPr wrap="square">
            <a:spAutoFit/>
          </a:bodyPr>
          <a:lstStyle/>
          <a:p>
            <a:pPr algn="r">
              <a:spcAft>
                <a:spcPts val="600"/>
              </a:spcAft>
              <a:defRPr sz="1100" b="0" i="0">
                <a:solidFill>
                  <a:srgbClr val="999999"/>
                </a:solidFill>
                <a:latin typeface="Times New Roman"/>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B1F2B"/>
        </a:solidFill>
        <a:effectLst/>
      </p:bgPr>
    </p:bg>
    <p:spTree>
      <p:nvGrpSpPr>
        <p:cNvPr id="1" name=""/>
        <p:cNvGrpSpPr/>
        <p:nvPr/>
      </p:nvGrpSpPr>
      <p:grpSpPr/>
      <p:sp>
        <p:nvSpPr>
          <p:cNvPr id="2" name="TextBox 1"/>
          <p:cNvSpPr txBox="1"/>
          <p:nvPr/>
        </p:nvSpPr>
        <p:spPr>
          <a:xfrm>
            <a:off x="731520" y="365760"/>
            <a:ext cx="10698480" cy="640080"/>
          </a:xfrm>
          <a:prstGeom prst="rect">
            <a:avLst/>
          </a:prstGeom>
          <a:noFill/>
        </p:spPr>
        <p:txBody>
          <a:bodyPr wrap="square">
            <a:spAutoFit/>
          </a:bodyPr>
          <a:lstStyle/>
          <a:p>
            <a:pPr algn="l">
              <a:spcAft>
                <a:spcPts val="600"/>
              </a:spcAft>
              <a:defRPr sz="3200" b="1" i="0">
                <a:solidFill>
                  <a:srgbClr val="C9A962"/>
                </a:solidFill>
                <a:latin typeface="Times New Roman"/>
              </a:defRPr>
            </a:pPr>
            <a:r>
              <a:t>Conclusion</a:t>
            </a:r>
          </a:p>
        </p:txBody>
      </p:sp>
      <p:sp>
        <p:nvSpPr>
          <p:cNvPr id="3" name="Rectangle 2"/>
          <p:cNvSpPr/>
          <p:nvPr/>
        </p:nvSpPr>
        <p:spPr>
          <a:xfrm>
            <a:off x="731520" y="960120"/>
            <a:ext cx="10698480" cy="12700"/>
          </a:xfrm>
          <a:prstGeom prst="rect">
            <a:avLst/>
          </a:prstGeom>
          <a:solidFill>
            <a:srgbClr val="C9A9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280160"/>
            <a:ext cx="10332720" cy="3840480"/>
          </a:xfrm>
          <a:prstGeom prst="rect">
            <a:avLst/>
          </a:prstGeom>
          <a:noFill/>
        </p:spPr>
        <p:txBody>
          <a:bodyPr wrap="square">
            <a:spAutoFit/>
          </a:bodyPr>
          <a:lstStyle/>
          <a:p>
            <a:pPr algn="l">
              <a:spcAft>
                <a:spcPts val="0"/>
              </a:spcAft>
              <a:defRPr sz="1000" b="0" i="0">
                <a:solidFill>
                  <a:srgbClr val="FFFFFF"/>
                </a:solidFill>
                <a:latin typeface="Times New Roman"/>
              </a:defRPr>
            </a:pPr>
          </a:p>
          <a:p>
            <a:pPr>
              <a:spcAft>
                <a:spcPts val="1600"/>
              </a:spcAft>
              <a:defRPr sz="2000" b="0" i="0">
                <a:solidFill>
                  <a:srgbClr val="FFFFFF"/>
                </a:solidFill>
                <a:latin typeface="Times New Roman"/>
              </a:defRPr>
              <a:buChar char="•"/>
              <a:buClr>
                <a:srgbClr val="C9A962"/>
              </a:buClr>
            </a:pPr>
            <a:r>
              <a:t>These two models represent a genuine philosophical fork in ancient thought — either the cosmos is a moral arena or an indifferent rational machine</a:t>
            </a:r>
          </a:p>
          <a:p>
            <a:pPr>
              <a:spcAft>
                <a:spcPts val="1600"/>
              </a:spcAft>
              <a:defRPr sz="2000" b="0" i="0">
                <a:solidFill>
                  <a:srgbClr val="FFFFFF"/>
                </a:solidFill>
                <a:latin typeface="Times New Roman"/>
              </a:defRPr>
              <a:buChar char="•"/>
              <a:buClr>
                <a:srgbClr val="C9A962"/>
              </a:buClr>
            </a:pPr>
            <a:r>
              <a:t>Cicero and Seneca attempt to bridge this gap, but the tension remains unresolved</a:t>
            </a:r>
          </a:p>
          <a:p>
            <a:pPr>
              <a:spcAft>
                <a:spcPts val="1600"/>
              </a:spcAft>
              <a:defRPr sz="2000" b="0" i="0">
                <a:solidFill>
                  <a:srgbClr val="FFFFFF"/>
                </a:solidFill>
                <a:latin typeface="Times New Roman"/>
              </a:defRPr>
              <a:buChar char="•"/>
              <a:buClr>
                <a:srgbClr val="C9A962"/>
              </a:buClr>
            </a:pPr>
            <a:r>
              <a:t>The question these texts raise is still urgent: does the universe care about human virtue, or are we simply along for the ride?</a:t>
            </a:r>
          </a:p>
        </p:txBody>
      </p:sp>
      <p:sp>
        <p:nvSpPr>
          <p:cNvPr id="5" name="TextBox 4"/>
          <p:cNvSpPr txBox="1"/>
          <p:nvPr/>
        </p:nvSpPr>
        <p:spPr>
          <a:xfrm>
            <a:off x="914400" y="4846320"/>
            <a:ext cx="10332720" cy="914400"/>
          </a:xfrm>
          <a:prstGeom prst="rect">
            <a:avLst/>
          </a:prstGeom>
          <a:noFill/>
        </p:spPr>
        <p:txBody>
          <a:bodyPr wrap="square">
            <a:spAutoFit/>
          </a:bodyPr>
          <a:lstStyle/>
          <a:p>
            <a:pPr algn="ctr">
              <a:spcAft>
                <a:spcPts val="600"/>
              </a:spcAft>
              <a:defRPr sz="2000" b="0" i="1">
                <a:solidFill>
                  <a:srgbClr val="C9A962"/>
                </a:solidFill>
                <a:latin typeface="Times New Roman"/>
              </a:defRPr>
            </a:pPr>
            <a:r>
              <a:t>‘The end of the world, in ancient thought, was never just physics — it was always also a question about us.’</a:t>
            </a:r>
          </a:p>
        </p:txBody>
      </p:sp>
      <p:sp>
        <p:nvSpPr>
          <p:cNvPr id="6" name="TextBox 5"/>
          <p:cNvSpPr txBox="1"/>
          <p:nvPr/>
        </p:nvSpPr>
        <p:spPr>
          <a:xfrm>
            <a:off x="11247120" y="6400800"/>
            <a:ext cx="731520" cy="320040"/>
          </a:xfrm>
          <a:prstGeom prst="rect">
            <a:avLst/>
          </a:prstGeom>
          <a:noFill/>
        </p:spPr>
        <p:txBody>
          <a:bodyPr wrap="square">
            <a:spAutoFit/>
          </a:bodyPr>
          <a:lstStyle/>
          <a:p>
            <a:pPr algn="r">
              <a:spcAft>
                <a:spcPts val="600"/>
              </a:spcAft>
              <a:defRPr sz="1100" b="0" i="0">
                <a:solidFill>
                  <a:srgbClr val="999999"/>
                </a:solidFill>
                <a:latin typeface="Times New Roman"/>
              </a:defRPr>
            </a:pPr>
            <a:r>
              <a:t>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